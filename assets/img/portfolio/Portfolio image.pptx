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64D5"/>
    <a:srgbClr val="68A1FF"/>
    <a:srgbClr val="3179FF"/>
    <a:srgbClr val="84BCFF"/>
    <a:srgbClr val="C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44"/>
  </p:normalViewPr>
  <p:slideViewPr>
    <p:cSldViewPr snapToGrid="0">
      <p:cViewPr>
        <p:scale>
          <a:sx n="145" d="100"/>
          <a:sy n="145" d="100"/>
        </p:scale>
        <p:origin x="144" y="-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71904-D1B3-7305-D979-C315AEDC0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65253C-5777-CAB0-3106-519AA874EA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CE36A-17B7-B630-576F-12DEF031B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61C5B-9E6A-8C4B-149F-330E51A7C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EF3F7-7021-1581-7AB4-B92F759E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43124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8272-10D2-2596-BA6A-2AE9913FA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5E4EF-346D-A2AD-E9A4-7D37AA4CF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C60321-9ECA-3AE0-53B1-2A329E8BF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BB708-38B7-C024-6AB2-5AA30581A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B3D85C-4D83-39DB-7512-A49D17D2A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48143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FB465-43B4-6511-1DF3-551C9425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654BE-B13D-23BC-9F96-15853E1FD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C841D-1FA4-1871-B02D-DC9882CBA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9CFED-61B0-9332-990C-7F1F6983E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C9A9B-3008-4BCA-6850-2D6DB5B95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82992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EF09-E924-EB94-C96C-76DD2274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76D93-46E0-9A5B-83B5-7DE7333430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FCAF5-21F8-7ADB-53BE-B98DBE03D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988FD0-3EE0-A837-BD02-59501DBB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95703D-82FB-2816-7E2B-2282551B3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87087-FFAB-C34A-E942-E4ED2C508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80432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B844C-1CBF-2DD8-1F9D-D19285084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0BF07D-2DF7-552D-E244-E8B8EA708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BBB9D-2385-4873-436F-A21753642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A7E5F-50F7-C20A-04F7-7ADF6F93C7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E44EE2-9F4D-929B-3D27-48CEFDB982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E6AF65-8E3E-B6F1-1D31-1838AC7D3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155E3D-6E8F-EBEF-7D96-119D21A40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D5F1AA-1F82-B7B3-D544-6A6710440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14702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1FAC4-4032-F502-085E-02A507D6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09422F-3E23-5FB0-3CEB-97446F136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CD5042-D737-1D00-48CD-11E238192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05C77-4382-3E9A-6D2E-98F0F08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36473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59D262-2DB3-F37F-AE96-852DBC59A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2C3D61-1B0D-DB1B-C2A4-C19E0CA74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346E8-191B-B681-9FD7-0BFBCF44E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072597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D7B04-941E-F1D7-8C0E-6CE8EEACF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FCA8-133D-D937-6AC5-21C90BF09A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4149F5-85E7-4532-8A0F-9E0ECDB71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7D141D-4B06-6C4E-43B5-4937D13E5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E51A7-BEE6-C814-8FBB-DEF81D8D4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A7764F-DBBB-B2E0-2D63-E937C1FBF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801085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38B41-0004-BDF5-935B-4F00EB25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AC6063-CF28-72C3-5702-BE66D74E88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0ECE30-46F2-4BE0-BD1D-14AB9FECB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11A444-B79A-7A75-9F93-B391E2CA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CE1F2-8710-FF6F-8221-9DBE16D53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C36AA-E414-F6A2-624E-FAB181416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734031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DFA8A-DCB0-6108-C194-A7517CB61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BF5803-9434-B62E-A77E-0539091F9F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7D5CB-60D4-625E-C7C7-C40E162E5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25E764-F8E2-1019-A112-E824D3E0F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FCE48-856C-EBF4-C087-6E56EDB74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07087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476D77-0581-4238-A8DF-4CEF4540DE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F3ED1D-02CF-A238-DA9E-1F246BC96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6A2C0-0A13-4764-5109-79A5AC08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09CA0C-9D79-F7B2-80C7-CEDCA81AF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70F68-67D3-96BE-05E7-2A34C0E0B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8995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252E2C-CA36-6B68-8B2C-74CA53149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2916A-8444-67C5-7C1D-237B049C0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86DF1-DA73-227C-07F6-869911D72F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9A5A58-3777-6F4E-B67C-9A0223FDAA33}" type="datetimeFigureOut">
              <a:rPr lang="en-KR" smtClean="0"/>
              <a:t>3/27/26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63FE6-EE1A-5029-BBE9-7FE3EAC07B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413E8-FE37-A4E7-DA75-CFCA4B17B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3DEB4-4B5A-0846-88E6-FDE5901ADD45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00172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233">
            <a:extLst>
              <a:ext uri="{FF2B5EF4-FFF2-40B4-BE49-F238E27FC236}">
                <a16:creationId xmlns:a16="http://schemas.microsoft.com/office/drawing/2014/main" id="{A35F197E-C961-B7D8-5043-4DCBE5264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0906" y="572469"/>
            <a:ext cx="4150069" cy="235073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0"/>
              </a:prstClr>
            </a:outerShdw>
          </a:effectLst>
        </p:spPr>
      </p:pic>
      <p:sp>
        <p:nvSpPr>
          <p:cNvPr id="24" name="사각형: 둥근 모서리 228">
            <a:extLst>
              <a:ext uri="{FF2B5EF4-FFF2-40B4-BE49-F238E27FC236}">
                <a16:creationId xmlns:a16="http://schemas.microsoft.com/office/drawing/2014/main" id="{B25B71D5-36BF-697C-FD47-D91A8884B7B1}"/>
              </a:ext>
            </a:extLst>
          </p:cNvPr>
          <p:cNvSpPr/>
          <p:nvPr/>
        </p:nvSpPr>
        <p:spPr>
          <a:xfrm>
            <a:off x="5885188" y="1046289"/>
            <a:ext cx="1337457" cy="1257328"/>
          </a:xfrm>
          <a:prstGeom prst="roundRect">
            <a:avLst>
              <a:gd name="adj" fmla="val 4900"/>
            </a:avLst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D63CAA-22B0-7F24-0D78-54CE5EFE0ED0}"/>
              </a:ext>
            </a:extLst>
          </p:cNvPr>
          <p:cNvSpPr txBox="1"/>
          <p:nvPr/>
        </p:nvSpPr>
        <p:spPr>
          <a:xfrm>
            <a:off x="5975213" y="1086381"/>
            <a:ext cx="1337456" cy="479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Vibration characteristics</a:t>
            </a:r>
            <a:endParaRPr lang="ko-KR" altLang="en-US" sz="1200" spc="-50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cxnSp>
        <p:nvCxnSpPr>
          <p:cNvPr id="20" name="직선 화살표 연결선 224">
            <a:extLst>
              <a:ext uri="{FF2B5EF4-FFF2-40B4-BE49-F238E27FC236}">
                <a16:creationId xmlns:a16="http://schemas.microsoft.com/office/drawing/2014/main" id="{B6039FFF-50EE-4C01-CB51-90B487369958}"/>
              </a:ext>
            </a:extLst>
          </p:cNvPr>
          <p:cNvCxnSpPr>
            <a:cxnSpLocks/>
          </p:cNvCxnSpPr>
          <p:nvPr/>
        </p:nvCxnSpPr>
        <p:spPr>
          <a:xfrm flipV="1">
            <a:off x="6289525" y="1506202"/>
            <a:ext cx="0" cy="6378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25">
            <a:extLst>
              <a:ext uri="{FF2B5EF4-FFF2-40B4-BE49-F238E27FC236}">
                <a16:creationId xmlns:a16="http://schemas.microsoft.com/office/drawing/2014/main" id="{7623246F-8C21-F704-D508-3A68FDEFE220}"/>
              </a:ext>
            </a:extLst>
          </p:cNvPr>
          <p:cNvCxnSpPr>
            <a:cxnSpLocks/>
          </p:cNvCxnSpPr>
          <p:nvPr/>
        </p:nvCxnSpPr>
        <p:spPr>
          <a:xfrm rot="5400000" flipV="1">
            <a:off x="6633380" y="1430178"/>
            <a:ext cx="0" cy="6877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자유형: 도형 226">
            <a:extLst>
              <a:ext uri="{FF2B5EF4-FFF2-40B4-BE49-F238E27FC236}">
                <a16:creationId xmlns:a16="http://schemas.microsoft.com/office/drawing/2014/main" id="{5AD8CC8B-FB6A-2BB4-98D4-AD1BED685C61}"/>
              </a:ext>
            </a:extLst>
          </p:cNvPr>
          <p:cNvSpPr/>
          <p:nvPr/>
        </p:nvSpPr>
        <p:spPr>
          <a:xfrm>
            <a:off x="6301506" y="1679159"/>
            <a:ext cx="621165" cy="419829"/>
          </a:xfrm>
          <a:custGeom>
            <a:avLst/>
            <a:gdLst>
              <a:gd name="connsiteX0" fmla="*/ 0 w 1790700"/>
              <a:gd name="connsiteY0" fmla="*/ 212596 h 1077238"/>
              <a:gd name="connsiteX1" fmla="*/ 50800 w 1790700"/>
              <a:gd name="connsiteY1" fmla="*/ 15746 h 1077238"/>
              <a:gd name="connsiteX2" fmla="*/ 139700 w 1790700"/>
              <a:gd name="connsiteY2" fmla="*/ 580896 h 1077238"/>
              <a:gd name="connsiteX3" fmla="*/ 203200 w 1790700"/>
              <a:gd name="connsiteY3" fmla="*/ 517396 h 1077238"/>
              <a:gd name="connsiteX4" fmla="*/ 254000 w 1790700"/>
              <a:gd name="connsiteY4" fmla="*/ 733296 h 1077238"/>
              <a:gd name="connsiteX5" fmla="*/ 323850 w 1790700"/>
              <a:gd name="connsiteY5" fmla="*/ 606296 h 1077238"/>
              <a:gd name="connsiteX6" fmla="*/ 469900 w 1790700"/>
              <a:gd name="connsiteY6" fmla="*/ 1019046 h 1077238"/>
              <a:gd name="connsiteX7" fmla="*/ 654050 w 1790700"/>
              <a:gd name="connsiteY7" fmla="*/ 530096 h 1077238"/>
              <a:gd name="connsiteX8" fmla="*/ 762000 w 1790700"/>
              <a:gd name="connsiteY8" fmla="*/ 1044446 h 1077238"/>
              <a:gd name="connsiteX9" fmla="*/ 825500 w 1790700"/>
              <a:gd name="connsiteY9" fmla="*/ 923796 h 1077238"/>
              <a:gd name="connsiteX10" fmla="*/ 908050 w 1790700"/>
              <a:gd name="connsiteY10" fmla="*/ 1019046 h 1077238"/>
              <a:gd name="connsiteX11" fmla="*/ 1073150 w 1790700"/>
              <a:gd name="connsiteY11" fmla="*/ 860296 h 1077238"/>
              <a:gd name="connsiteX12" fmla="*/ 1168400 w 1790700"/>
              <a:gd name="connsiteY12" fmla="*/ 1031746 h 1077238"/>
              <a:gd name="connsiteX13" fmla="*/ 1308100 w 1790700"/>
              <a:gd name="connsiteY13" fmla="*/ 879346 h 1077238"/>
              <a:gd name="connsiteX14" fmla="*/ 1485900 w 1790700"/>
              <a:gd name="connsiteY14" fmla="*/ 1076196 h 1077238"/>
              <a:gd name="connsiteX15" fmla="*/ 1555750 w 1790700"/>
              <a:gd name="connsiteY15" fmla="*/ 961896 h 1077238"/>
              <a:gd name="connsiteX16" fmla="*/ 1670050 w 1790700"/>
              <a:gd name="connsiteY16" fmla="*/ 1069846 h 1077238"/>
              <a:gd name="connsiteX17" fmla="*/ 1790700 w 1790700"/>
              <a:gd name="connsiteY17" fmla="*/ 733296 h 1077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790700" h="1077238">
                <a:moveTo>
                  <a:pt x="0" y="212596"/>
                </a:moveTo>
                <a:cubicBezTo>
                  <a:pt x="13758" y="83479"/>
                  <a:pt x="27517" y="-45637"/>
                  <a:pt x="50800" y="15746"/>
                </a:cubicBezTo>
                <a:cubicBezTo>
                  <a:pt x="74083" y="77129"/>
                  <a:pt x="114300" y="497288"/>
                  <a:pt x="139700" y="580896"/>
                </a:cubicBezTo>
                <a:cubicBezTo>
                  <a:pt x="165100" y="664504"/>
                  <a:pt x="184150" y="491996"/>
                  <a:pt x="203200" y="517396"/>
                </a:cubicBezTo>
                <a:cubicBezTo>
                  <a:pt x="222250" y="542796"/>
                  <a:pt x="233892" y="718479"/>
                  <a:pt x="254000" y="733296"/>
                </a:cubicBezTo>
                <a:cubicBezTo>
                  <a:pt x="274108" y="748113"/>
                  <a:pt x="287867" y="558671"/>
                  <a:pt x="323850" y="606296"/>
                </a:cubicBezTo>
                <a:cubicBezTo>
                  <a:pt x="359833" y="653921"/>
                  <a:pt x="414867" y="1031746"/>
                  <a:pt x="469900" y="1019046"/>
                </a:cubicBezTo>
                <a:cubicBezTo>
                  <a:pt x="524933" y="1006346"/>
                  <a:pt x="605367" y="525863"/>
                  <a:pt x="654050" y="530096"/>
                </a:cubicBezTo>
                <a:cubicBezTo>
                  <a:pt x="702733" y="534329"/>
                  <a:pt x="733425" y="978829"/>
                  <a:pt x="762000" y="1044446"/>
                </a:cubicBezTo>
                <a:cubicBezTo>
                  <a:pt x="790575" y="1110063"/>
                  <a:pt x="801158" y="928029"/>
                  <a:pt x="825500" y="923796"/>
                </a:cubicBezTo>
                <a:cubicBezTo>
                  <a:pt x="849842" y="919563"/>
                  <a:pt x="866775" y="1029629"/>
                  <a:pt x="908050" y="1019046"/>
                </a:cubicBezTo>
                <a:cubicBezTo>
                  <a:pt x="949325" y="1008463"/>
                  <a:pt x="1029758" y="858179"/>
                  <a:pt x="1073150" y="860296"/>
                </a:cubicBezTo>
                <a:cubicBezTo>
                  <a:pt x="1116542" y="862413"/>
                  <a:pt x="1129242" y="1028571"/>
                  <a:pt x="1168400" y="1031746"/>
                </a:cubicBezTo>
                <a:cubicBezTo>
                  <a:pt x="1207558" y="1034921"/>
                  <a:pt x="1255183" y="871938"/>
                  <a:pt x="1308100" y="879346"/>
                </a:cubicBezTo>
                <a:cubicBezTo>
                  <a:pt x="1361017" y="886754"/>
                  <a:pt x="1444625" y="1062438"/>
                  <a:pt x="1485900" y="1076196"/>
                </a:cubicBezTo>
                <a:cubicBezTo>
                  <a:pt x="1527175" y="1089954"/>
                  <a:pt x="1525058" y="962954"/>
                  <a:pt x="1555750" y="961896"/>
                </a:cubicBezTo>
                <a:cubicBezTo>
                  <a:pt x="1586442" y="960838"/>
                  <a:pt x="1630892" y="1107946"/>
                  <a:pt x="1670050" y="1069846"/>
                </a:cubicBezTo>
                <a:cubicBezTo>
                  <a:pt x="1709208" y="1031746"/>
                  <a:pt x="1749954" y="882521"/>
                  <a:pt x="1790700" y="733296"/>
                </a:cubicBezTo>
              </a:path>
            </a:pathLst>
          </a:custGeom>
          <a:noFill/>
          <a:ln w="19050">
            <a:solidFill>
              <a:srgbClr val="1364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23" name="직사각형 227">
            <a:extLst>
              <a:ext uri="{FF2B5EF4-FFF2-40B4-BE49-F238E27FC236}">
                <a16:creationId xmlns:a16="http://schemas.microsoft.com/office/drawing/2014/main" id="{E109BCED-2F44-5A56-E635-061B1C5A028E}"/>
              </a:ext>
            </a:extLst>
          </p:cNvPr>
          <p:cNvSpPr/>
          <p:nvPr/>
        </p:nvSpPr>
        <p:spPr>
          <a:xfrm>
            <a:off x="5891139" y="1495655"/>
            <a:ext cx="43152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dirty="0">
                <a:solidFill>
                  <a:schemeClr val="tx1"/>
                </a:solidFill>
              </a:rPr>
              <a:t>[dB]</a:t>
            </a:r>
            <a:endParaRPr lang="ko-KR" altLang="en-US" sz="1000" dirty="0"/>
          </a:p>
        </p:txBody>
      </p:sp>
      <p:sp>
        <p:nvSpPr>
          <p:cNvPr id="17" name="사각형: 둥근 모서리 221">
            <a:extLst>
              <a:ext uri="{FF2B5EF4-FFF2-40B4-BE49-F238E27FC236}">
                <a16:creationId xmlns:a16="http://schemas.microsoft.com/office/drawing/2014/main" id="{87ED0CE5-0668-6ADA-D93E-B06861EED332}"/>
              </a:ext>
            </a:extLst>
          </p:cNvPr>
          <p:cNvSpPr/>
          <p:nvPr/>
        </p:nvSpPr>
        <p:spPr>
          <a:xfrm>
            <a:off x="3671223" y="1043240"/>
            <a:ext cx="1466414" cy="1257328"/>
          </a:xfrm>
          <a:prstGeom prst="roundRect">
            <a:avLst>
              <a:gd name="adj" fmla="val 4900"/>
            </a:avLst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034261-B69C-42ED-2AE2-C61151A974D3}"/>
              </a:ext>
            </a:extLst>
          </p:cNvPr>
          <p:cNvSpPr txBox="1"/>
          <p:nvPr/>
        </p:nvSpPr>
        <p:spPr>
          <a:xfrm>
            <a:off x="3676298" y="1086380"/>
            <a:ext cx="135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spc="-50" dirty="0">
                <a:solidFill>
                  <a:schemeClr val="tx1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Design variables</a:t>
            </a:r>
          </a:p>
          <a:p>
            <a:pPr algn="ctr"/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(w</a:t>
            </a:r>
            <a:r>
              <a:rPr lang="en-US" altLang="ko-KR" sz="1200" spc="-50" baseline="-25000" dirty="0">
                <a:latin typeface="Noto Sans KR" panose="020B0200000000000000" pitchFamily="34" charset="-128"/>
                <a:ea typeface="Noto Sans KR" panose="020B0200000000000000" pitchFamily="34" charset="-128"/>
              </a:rPr>
              <a:t>1</a:t>
            </a:r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, w</a:t>
            </a:r>
            <a:r>
              <a:rPr lang="en-US" altLang="ko-KR" sz="1200" spc="-50" baseline="-25000" dirty="0">
                <a:latin typeface="Noto Sans KR" panose="020B0200000000000000" pitchFamily="34" charset="-128"/>
                <a:ea typeface="Noto Sans KR" panose="020B0200000000000000" pitchFamily="34" charset="-128"/>
              </a:rPr>
              <a:t>2</a:t>
            </a:r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, d, a, b, t, h)</a:t>
            </a:r>
            <a:endParaRPr lang="en-US" altLang="ko-KR" sz="1200" spc="-50" dirty="0">
              <a:solidFill>
                <a:schemeClr val="tx1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pic>
        <p:nvPicPr>
          <p:cNvPr id="16" name="그래픽 220" descr="머리 안의 뇌">
            <a:extLst>
              <a:ext uri="{FF2B5EF4-FFF2-40B4-BE49-F238E27FC236}">
                <a16:creationId xmlns:a16="http://schemas.microsoft.com/office/drawing/2014/main" id="{41D71C5D-AA7F-3B32-5DA5-178D2F111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6570" y="1665335"/>
            <a:ext cx="640667" cy="640667"/>
          </a:xfrm>
          <a:prstGeom prst="rect">
            <a:avLst/>
          </a:prstGeom>
        </p:spPr>
      </p:pic>
      <p:pic>
        <p:nvPicPr>
          <p:cNvPr id="13" name="Picture 2" descr="COMSOL (@COMSOL_Inc) / Twitter">
            <a:extLst>
              <a:ext uri="{FF2B5EF4-FFF2-40B4-BE49-F238E27FC236}">
                <a16:creationId xmlns:a16="http://schemas.microsoft.com/office/drawing/2014/main" id="{2730D98B-05BC-2EFE-024F-2873C4AEC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8612" y="758789"/>
            <a:ext cx="485555" cy="48555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Matlab Niveau 1 - Ackware - Centre de formation à Reims">
            <a:extLst>
              <a:ext uri="{FF2B5EF4-FFF2-40B4-BE49-F238E27FC236}">
                <a16:creationId xmlns:a16="http://schemas.microsoft.com/office/drawing/2014/main" id="{8164D639-621D-EEAC-DA5E-35E71D7EA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94" t="5663" r="20840" b="5915"/>
          <a:stretch/>
        </p:blipFill>
        <p:spPr bwMode="auto">
          <a:xfrm>
            <a:off x="5233696" y="2098988"/>
            <a:ext cx="487440" cy="45635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6384981-3754-C030-EE8D-38F79821F7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4692" y="572470"/>
            <a:ext cx="2296836" cy="2585384"/>
          </a:xfrm>
          <a:prstGeom prst="rect">
            <a:avLst/>
          </a:prstGeom>
        </p:spPr>
      </p:pic>
      <p:pic>
        <p:nvPicPr>
          <p:cNvPr id="27" name="그림 266">
            <a:extLst>
              <a:ext uri="{FF2B5EF4-FFF2-40B4-BE49-F238E27FC236}">
                <a16:creationId xmlns:a16="http://schemas.microsoft.com/office/drawing/2014/main" id="{DECFD680-C6DB-F1B2-CBE0-A2564F2FDD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0980" y="1699107"/>
            <a:ext cx="383254" cy="33211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26B431D-8D83-A670-587F-8D21166AFC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795" y="6009536"/>
            <a:ext cx="7772400" cy="1305567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5208C086-D92B-2BAD-72C7-2399D5D385E8}"/>
              </a:ext>
            </a:extLst>
          </p:cNvPr>
          <p:cNvGrpSpPr/>
          <p:nvPr/>
        </p:nvGrpSpPr>
        <p:grpSpPr>
          <a:xfrm>
            <a:off x="4969614" y="1134275"/>
            <a:ext cx="1047983" cy="1087000"/>
            <a:chOff x="3780388" y="3240952"/>
            <a:chExt cx="918387" cy="952579"/>
          </a:xfrm>
        </p:grpSpPr>
        <p:sp>
          <p:nvSpPr>
            <p:cNvPr id="35" name="Circular Arrow 34">
              <a:extLst>
                <a:ext uri="{FF2B5EF4-FFF2-40B4-BE49-F238E27FC236}">
                  <a16:creationId xmlns:a16="http://schemas.microsoft.com/office/drawing/2014/main" id="{0FB8A991-C769-8D4F-D390-643AFB8D06D8}"/>
                </a:ext>
              </a:extLst>
            </p:cNvPr>
            <p:cNvSpPr/>
            <p:nvPr/>
          </p:nvSpPr>
          <p:spPr>
            <a:xfrm>
              <a:off x="3780388" y="3240952"/>
              <a:ext cx="918387" cy="918387"/>
            </a:xfrm>
            <a:prstGeom prst="circularArrow">
              <a:avLst>
                <a:gd name="adj1" fmla="val 15221"/>
                <a:gd name="adj2" fmla="val 1142319"/>
                <a:gd name="adj3" fmla="val 20365396"/>
                <a:gd name="adj4" fmla="val 10800000"/>
                <a:gd name="adj5" fmla="val 14750"/>
              </a:avLst>
            </a:prstGeom>
            <a:gradFill>
              <a:gsLst>
                <a:gs pos="25000">
                  <a:srgbClr val="84BCFF"/>
                </a:gs>
                <a:gs pos="76000">
                  <a:srgbClr val="3179FF"/>
                </a:gs>
                <a:gs pos="50000">
                  <a:srgbClr val="68A1FF"/>
                </a:gs>
                <a:gs pos="0">
                  <a:srgbClr val="C7E3FF"/>
                </a:gs>
                <a:gs pos="100000">
                  <a:srgbClr val="1364D5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>
                <a:solidFill>
                  <a:schemeClr val="tx1"/>
                </a:solidFill>
              </a:endParaRPr>
            </a:p>
          </p:txBody>
        </p:sp>
        <p:sp>
          <p:nvSpPr>
            <p:cNvPr id="36" name="Circular Arrow 35">
              <a:extLst>
                <a:ext uri="{FF2B5EF4-FFF2-40B4-BE49-F238E27FC236}">
                  <a16:creationId xmlns:a16="http://schemas.microsoft.com/office/drawing/2014/main" id="{7DC77E98-27B3-7A18-0BE1-A45DE2408E15}"/>
                </a:ext>
              </a:extLst>
            </p:cNvPr>
            <p:cNvSpPr/>
            <p:nvPr/>
          </p:nvSpPr>
          <p:spPr>
            <a:xfrm flipH="1" flipV="1">
              <a:off x="3780388" y="3275144"/>
              <a:ext cx="918387" cy="918387"/>
            </a:xfrm>
            <a:prstGeom prst="circularArrow">
              <a:avLst>
                <a:gd name="adj1" fmla="val 15221"/>
                <a:gd name="adj2" fmla="val 1142319"/>
                <a:gd name="adj3" fmla="val 20365396"/>
                <a:gd name="adj4" fmla="val 10800000"/>
                <a:gd name="adj5" fmla="val 14750"/>
              </a:avLst>
            </a:prstGeom>
            <a:gradFill>
              <a:gsLst>
                <a:gs pos="25000">
                  <a:srgbClr val="84BCFF"/>
                </a:gs>
                <a:gs pos="76000">
                  <a:srgbClr val="3179FF"/>
                </a:gs>
                <a:gs pos="50000">
                  <a:srgbClr val="68A1FF"/>
                </a:gs>
                <a:gs pos="0">
                  <a:srgbClr val="C7E3FF"/>
                </a:gs>
                <a:gs pos="100000">
                  <a:srgbClr val="1364D5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264923-55FC-03DF-92C7-7FA3A4EC68C6}"/>
              </a:ext>
            </a:extLst>
          </p:cNvPr>
          <p:cNvGrpSpPr/>
          <p:nvPr/>
        </p:nvGrpSpPr>
        <p:grpSpPr>
          <a:xfrm>
            <a:off x="3480906" y="2643244"/>
            <a:ext cx="4123028" cy="345173"/>
            <a:chOff x="3477137" y="2716673"/>
            <a:chExt cx="4123028" cy="345173"/>
          </a:xfrm>
        </p:grpSpPr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1D449EB8-7448-7E65-186A-65CF41927AAA}"/>
                </a:ext>
              </a:extLst>
            </p:cNvPr>
            <p:cNvSpPr/>
            <p:nvPr/>
          </p:nvSpPr>
          <p:spPr>
            <a:xfrm>
              <a:off x="3544389" y="2716673"/>
              <a:ext cx="3988525" cy="345173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9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98E21CA-62F8-CBDF-BD3B-4A27659BB394}"/>
                </a:ext>
              </a:extLst>
            </p:cNvPr>
            <p:cNvSpPr txBox="1"/>
            <p:nvPr/>
          </p:nvSpPr>
          <p:spPr>
            <a:xfrm>
              <a:off x="3477137" y="2750368"/>
              <a:ext cx="4123028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300" spc="-50" dirty="0">
                  <a:solidFill>
                    <a:schemeClr val="bg1"/>
                  </a:solidFill>
                  <a:latin typeface="Noto Sans KR" panose="020B0200000000000000" pitchFamily="34" charset="-128"/>
                  <a:ea typeface="Noto Sans KR" panose="020B0200000000000000" pitchFamily="34" charset="-128"/>
                </a:rPr>
                <a:t>Vibration Reduction Mount Optimal Design Framework</a:t>
              </a:r>
            </a:p>
          </p:txBody>
        </p:sp>
      </p:grpSp>
      <p:pic>
        <p:nvPicPr>
          <p:cNvPr id="41" name="그림 233">
            <a:extLst>
              <a:ext uri="{FF2B5EF4-FFF2-40B4-BE49-F238E27FC236}">
                <a16:creationId xmlns:a16="http://schemas.microsoft.com/office/drawing/2014/main" id="{E1575E36-643E-07FC-0DBB-A0DDD002E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0906" y="3578427"/>
            <a:ext cx="4150069" cy="235073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0"/>
              </a:prstClr>
            </a:outerShdw>
          </a:effectLst>
        </p:spPr>
      </p:pic>
      <p:sp>
        <p:nvSpPr>
          <p:cNvPr id="48" name="사각형: 둥근 모서리 221">
            <a:extLst>
              <a:ext uri="{FF2B5EF4-FFF2-40B4-BE49-F238E27FC236}">
                <a16:creationId xmlns:a16="http://schemas.microsoft.com/office/drawing/2014/main" id="{5E613F35-12A8-2D7C-38F3-63DB329E63EB}"/>
              </a:ext>
            </a:extLst>
          </p:cNvPr>
          <p:cNvSpPr/>
          <p:nvPr/>
        </p:nvSpPr>
        <p:spPr>
          <a:xfrm>
            <a:off x="3671223" y="4049198"/>
            <a:ext cx="1466414" cy="1257328"/>
          </a:xfrm>
          <a:prstGeom prst="roundRect">
            <a:avLst>
              <a:gd name="adj" fmla="val 4900"/>
            </a:avLst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E543FE-9524-9B11-E173-87B12868E1AB}"/>
              </a:ext>
            </a:extLst>
          </p:cNvPr>
          <p:cNvSpPr txBox="1"/>
          <p:nvPr/>
        </p:nvSpPr>
        <p:spPr>
          <a:xfrm>
            <a:off x="3676298" y="4092338"/>
            <a:ext cx="135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spc="-50" dirty="0">
                <a:solidFill>
                  <a:schemeClr val="tx1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Design variables</a:t>
            </a:r>
          </a:p>
          <a:p>
            <a:pPr algn="ctr"/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(w</a:t>
            </a:r>
            <a:r>
              <a:rPr lang="en-US" altLang="ko-KR" sz="1200" spc="-50" baseline="-25000" dirty="0">
                <a:latin typeface="Noto Sans KR" panose="020B0200000000000000" pitchFamily="34" charset="-128"/>
                <a:ea typeface="Noto Sans KR" panose="020B0200000000000000" pitchFamily="34" charset="-128"/>
              </a:rPr>
              <a:t>1</a:t>
            </a:r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, w</a:t>
            </a:r>
            <a:r>
              <a:rPr lang="en-US" altLang="ko-KR" sz="1200" spc="-50" baseline="-25000" dirty="0">
                <a:latin typeface="Noto Sans KR" panose="020B0200000000000000" pitchFamily="34" charset="-128"/>
                <a:ea typeface="Noto Sans KR" panose="020B0200000000000000" pitchFamily="34" charset="-128"/>
              </a:rPr>
              <a:t>2</a:t>
            </a:r>
            <a:r>
              <a:rPr lang="en-US" altLang="ko-KR" sz="1200" spc="-50" dirty="0">
                <a:latin typeface="Noto Sans KR" panose="020B0200000000000000" pitchFamily="34" charset="-128"/>
                <a:ea typeface="Noto Sans KR" panose="020B0200000000000000" pitchFamily="34" charset="-128"/>
              </a:rPr>
              <a:t>, d, a, b, t, h)</a:t>
            </a:r>
            <a:endParaRPr lang="en-US" altLang="ko-KR" sz="1200" spc="-50" dirty="0">
              <a:solidFill>
                <a:schemeClr val="tx1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pic>
        <p:nvPicPr>
          <p:cNvPr id="50" name="그래픽 220" descr="머리 안의 뇌">
            <a:extLst>
              <a:ext uri="{FF2B5EF4-FFF2-40B4-BE49-F238E27FC236}">
                <a16:creationId xmlns:a16="http://schemas.microsoft.com/office/drawing/2014/main" id="{B31AAB37-81C3-D6F2-5373-ED26FB69AF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6570" y="4671293"/>
            <a:ext cx="640667" cy="640667"/>
          </a:xfrm>
          <a:prstGeom prst="rect">
            <a:avLst/>
          </a:prstGeom>
        </p:spPr>
      </p:pic>
      <p:pic>
        <p:nvPicPr>
          <p:cNvPr id="51" name="Picture 2" descr="COMSOL (@COMSOL_Inc) / Twitter">
            <a:extLst>
              <a:ext uri="{FF2B5EF4-FFF2-40B4-BE49-F238E27FC236}">
                <a16:creationId xmlns:a16="http://schemas.microsoft.com/office/drawing/2014/main" id="{F6DC2F19-7A82-5391-633E-883D95D96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8612" y="3764747"/>
            <a:ext cx="485555" cy="48555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Matlab Niveau 1 - Ackware - Centre de formation à Reims">
            <a:extLst>
              <a:ext uri="{FF2B5EF4-FFF2-40B4-BE49-F238E27FC236}">
                <a16:creationId xmlns:a16="http://schemas.microsoft.com/office/drawing/2014/main" id="{DA858302-F80A-97D6-E1D5-F5FA4ADFC4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94" t="5663" r="20840" b="5915"/>
          <a:stretch/>
        </p:blipFill>
        <p:spPr bwMode="auto">
          <a:xfrm>
            <a:off x="5233696" y="5104946"/>
            <a:ext cx="487440" cy="45635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그림 266">
            <a:extLst>
              <a:ext uri="{FF2B5EF4-FFF2-40B4-BE49-F238E27FC236}">
                <a16:creationId xmlns:a16="http://schemas.microsoft.com/office/drawing/2014/main" id="{600D58AA-B397-EA72-20E7-0172A6060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6857" y="4705065"/>
            <a:ext cx="383254" cy="332111"/>
          </a:xfrm>
          <a:prstGeom prst="rect">
            <a:avLst/>
          </a:prstGeom>
        </p:spPr>
      </p:pic>
      <p:grpSp>
        <p:nvGrpSpPr>
          <p:cNvPr id="58" name="Group 57">
            <a:extLst>
              <a:ext uri="{FF2B5EF4-FFF2-40B4-BE49-F238E27FC236}">
                <a16:creationId xmlns:a16="http://schemas.microsoft.com/office/drawing/2014/main" id="{613A13C4-0582-2DAA-034F-AAA3C0CBBF0C}"/>
              </a:ext>
            </a:extLst>
          </p:cNvPr>
          <p:cNvGrpSpPr/>
          <p:nvPr/>
        </p:nvGrpSpPr>
        <p:grpSpPr>
          <a:xfrm>
            <a:off x="3480906" y="5649202"/>
            <a:ext cx="4123028" cy="345173"/>
            <a:chOff x="3477137" y="2716673"/>
            <a:chExt cx="4123028" cy="345173"/>
          </a:xfrm>
        </p:grpSpPr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96F698E1-3951-A638-D261-068336BCB14E}"/>
                </a:ext>
              </a:extLst>
            </p:cNvPr>
            <p:cNvSpPr/>
            <p:nvPr/>
          </p:nvSpPr>
          <p:spPr>
            <a:xfrm>
              <a:off x="3544389" y="2716673"/>
              <a:ext cx="3988525" cy="345173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9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24435D-0742-CC96-E6EB-AFFB3EE46573}"/>
                </a:ext>
              </a:extLst>
            </p:cNvPr>
            <p:cNvSpPr txBox="1"/>
            <p:nvPr/>
          </p:nvSpPr>
          <p:spPr>
            <a:xfrm>
              <a:off x="3477137" y="2750368"/>
              <a:ext cx="4123028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300" spc="-50" dirty="0">
                  <a:solidFill>
                    <a:schemeClr val="bg1"/>
                  </a:solidFill>
                  <a:latin typeface="Noto Sans KR" panose="020B0200000000000000" pitchFamily="34" charset="-128"/>
                  <a:ea typeface="Noto Sans KR" panose="020B0200000000000000" pitchFamily="34" charset="-128"/>
                </a:rPr>
                <a:t>Vibration Reduction Mount Optimal Design Framework</a:t>
              </a:r>
            </a:p>
          </p:txBody>
        </p: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298B84DE-2DF2-BF23-B6DB-51BBB53175C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41406" y="3793470"/>
            <a:ext cx="1983286" cy="2216066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5CE44E93-1DD7-6EB0-BB50-B43EA793332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55187" b="99"/>
          <a:stretch/>
        </p:blipFill>
        <p:spPr>
          <a:xfrm>
            <a:off x="5810038" y="3718264"/>
            <a:ext cx="1045248" cy="1340928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194584AC-0AF4-B937-0A24-C8CD822FB2E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45693" t="2559" r="856"/>
          <a:stretch/>
        </p:blipFill>
        <p:spPr>
          <a:xfrm>
            <a:off x="6190317" y="4269965"/>
            <a:ext cx="1219002" cy="1278847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249CE85B-578D-AF81-D919-14A22CCB48F5}"/>
              </a:ext>
            </a:extLst>
          </p:cNvPr>
          <p:cNvGrpSpPr/>
          <p:nvPr/>
        </p:nvGrpSpPr>
        <p:grpSpPr>
          <a:xfrm>
            <a:off x="4969614" y="4140233"/>
            <a:ext cx="1047983" cy="1087000"/>
            <a:chOff x="3780388" y="3240952"/>
            <a:chExt cx="918387" cy="952579"/>
          </a:xfrm>
        </p:grpSpPr>
        <p:sp>
          <p:nvSpPr>
            <p:cNvPr id="56" name="Circular Arrow 55">
              <a:extLst>
                <a:ext uri="{FF2B5EF4-FFF2-40B4-BE49-F238E27FC236}">
                  <a16:creationId xmlns:a16="http://schemas.microsoft.com/office/drawing/2014/main" id="{9FED59C8-D416-D996-F0B6-382D0AFF4F2D}"/>
                </a:ext>
              </a:extLst>
            </p:cNvPr>
            <p:cNvSpPr/>
            <p:nvPr/>
          </p:nvSpPr>
          <p:spPr>
            <a:xfrm>
              <a:off x="3780388" y="3240952"/>
              <a:ext cx="918387" cy="918387"/>
            </a:xfrm>
            <a:prstGeom prst="circularArrow">
              <a:avLst>
                <a:gd name="adj1" fmla="val 15221"/>
                <a:gd name="adj2" fmla="val 1142319"/>
                <a:gd name="adj3" fmla="val 20365396"/>
                <a:gd name="adj4" fmla="val 10800000"/>
                <a:gd name="adj5" fmla="val 14750"/>
              </a:avLst>
            </a:prstGeom>
            <a:gradFill>
              <a:gsLst>
                <a:gs pos="25000">
                  <a:srgbClr val="84BCFF"/>
                </a:gs>
                <a:gs pos="76000">
                  <a:srgbClr val="3179FF"/>
                </a:gs>
                <a:gs pos="50000">
                  <a:srgbClr val="68A1FF"/>
                </a:gs>
                <a:gs pos="0">
                  <a:srgbClr val="C7E3FF"/>
                </a:gs>
                <a:gs pos="100000">
                  <a:srgbClr val="1364D5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>
                <a:solidFill>
                  <a:schemeClr val="tx1"/>
                </a:solidFill>
              </a:endParaRPr>
            </a:p>
          </p:txBody>
        </p:sp>
        <p:sp>
          <p:nvSpPr>
            <p:cNvPr id="57" name="Circular Arrow 56">
              <a:extLst>
                <a:ext uri="{FF2B5EF4-FFF2-40B4-BE49-F238E27FC236}">
                  <a16:creationId xmlns:a16="http://schemas.microsoft.com/office/drawing/2014/main" id="{2D488302-2460-400A-2521-79A179985E43}"/>
                </a:ext>
              </a:extLst>
            </p:cNvPr>
            <p:cNvSpPr/>
            <p:nvPr/>
          </p:nvSpPr>
          <p:spPr>
            <a:xfrm flipH="1" flipV="1">
              <a:off x="3780388" y="3275144"/>
              <a:ext cx="918387" cy="918387"/>
            </a:xfrm>
            <a:prstGeom prst="circularArrow">
              <a:avLst>
                <a:gd name="adj1" fmla="val 15221"/>
                <a:gd name="adj2" fmla="val 1142319"/>
                <a:gd name="adj3" fmla="val 20365396"/>
                <a:gd name="adj4" fmla="val 10800000"/>
                <a:gd name="adj5" fmla="val 14750"/>
              </a:avLst>
            </a:prstGeom>
            <a:gradFill>
              <a:gsLst>
                <a:gs pos="25000">
                  <a:srgbClr val="84BCFF"/>
                </a:gs>
                <a:gs pos="76000">
                  <a:srgbClr val="3179FF"/>
                </a:gs>
                <a:gs pos="50000">
                  <a:srgbClr val="68A1FF"/>
                </a:gs>
                <a:gs pos="0">
                  <a:srgbClr val="C7E3FF"/>
                </a:gs>
                <a:gs pos="100000">
                  <a:srgbClr val="1364D5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87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2789</TotalTime>
  <Words>51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Noto Sans KR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Jae-Moon Jeong</dc:creator>
  <cp:lastModifiedBy>Jae-Moon Jeong</cp:lastModifiedBy>
  <cp:revision>2</cp:revision>
  <dcterms:created xsi:type="dcterms:W3CDTF">2026-03-27T06:39:00Z</dcterms:created>
  <dcterms:modified xsi:type="dcterms:W3CDTF">2026-03-29T05:08:40Z</dcterms:modified>
</cp:coreProperties>
</file>